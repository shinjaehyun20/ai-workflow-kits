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8F8F"/>
                </a:solidFill>
                <a:latin typeface="Arial"/>
              </a:rPr>
              <a:t>PRESENTATION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DA291C"/>
                </a:solidFill>
                <a:latin typeface="Arial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630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8F8F8F"/>
                </a:solidFill>
                <a:latin typeface="Arial"/>
              </a:rPr>
              <a:t>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0972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6E500"/>
                </a:solidFill>
                <a:latin typeface="Arial"/>
              </a:rPr>
              <a:t>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Malgun Gothic"/>
              </a:rPr>
              <a:t>Claude · Copilot · Codex — 세 AI 도구에서 에이전트와 스킬은 어떻게 다른가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2560320" cy="5029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  에이전트 = 일꾼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931920"/>
            <a:ext cx="2560320" cy="502920"/>
          </a:xfrm>
          <a:prstGeom prst="rect">
            <a:avLst/>
          </a:prstGeom>
          <a:solidFill>
            <a:srgbClr val="3A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E500"/>
                </a:solidFill>
                <a:latin typeface="Malgun Gothic"/>
              </a:rPr>
              <a:t>  스킬 = 매뉴얼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8F8F"/>
                </a:solidFill>
                <a:latin typeface="Malgun Gothic"/>
              </a:rPr>
              <a:t>핵심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81818"/>
                </a:solidFill>
                <a:latin typeface="Malgun Gothic"/>
              </a:rPr>
              <a:t>한 줄로 기억하기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120640" cy="4023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A291C"/>
                </a:solidFill>
                <a:latin typeface="Arial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에이전트 = 전문 일꾼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2D2D2"/>
                </a:solidFill>
                <a:latin typeface="Malgun Gothic"/>
              </a:rPr>
              <a:t>자체 컨텍스트·도구·권한을 갖고
위임받은 작업을 끝까지 수행하는
재사용 가능한 전문 AI 페르소나 정의.
결과(요약)만 메인 대화에 반환.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828800"/>
            <a:ext cx="5120640" cy="4023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E500"/>
                </a:solidFill>
                <a:latin typeface="Arial"/>
              </a:rPr>
              <a:t>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스킬 = 작업 매뉴얼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2D2D2"/>
                </a:solidFill>
                <a:latin typeface="Malgun Gothic"/>
              </a:rPr>
              <a:t>특정 작업 수행법을 instructions·
스크립트·리소스로 묶은 SKILL.md 폴더.
description이 요청과 맞을 때만
본문이 로드되는 재사용 작업 플레이북.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8F8F"/>
                </a:solidFill>
                <a:latin typeface="Malgun Gothic"/>
              </a:rPr>
              <a:t>직관적 비유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사무실로 이해하기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120640" cy="4114800"/>
          </a:xfrm>
          <a:prstGeom prst="rect">
            <a:avLst/>
          </a:prstGeom>
          <a:solidFill>
            <a:srgbClr val="1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291C"/>
                </a:solidFill>
                <a:latin typeface="Malgun Gothic"/>
              </a:rPr>
              <a:t>채용한 전문가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2D2"/>
                </a:solidFill>
                <a:latin typeface="Malgun Gothic"/>
              </a:rPr>
              <a:t>자기 책상(컨텍스트)·도구·판단권이 있어
일감을 통째로 위임받고
완료 보고만 들어옵니다.
→ 메인 대화를 오염시키지 않음
→ 권한과 도구를 격리 가능
→ 긴 작업도 끝까지 혼자 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828800"/>
            <a:ext cx="5120640" cy="4114800"/>
          </a:xfrm>
          <a:prstGeom prst="rect">
            <a:avLst/>
          </a:prstGeom>
          <a:solidFill>
            <a:srgbClr val="181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6E500"/>
                </a:solidFill>
                <a:latin typeface="Malgun Gothic"/>
              </a:rPr>
              <a:t>책장의 매뉴얼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2D2"/>
                </a:solidFill>
                <a:latin typeface="Malgun Gothic"/>
              </a:rPr>
              <a:t>평소엔 책장에 꽂혀 자리를 거의
차지하지 않습니다.
관련 작업이 생겼을 때만 꺼내 읽고
다시 꽂아둡니다.
→ 평소 컨텍스트 비용 최소
→ 필요할 때만 전문 절차 로드
→ 스크립트·템플릿 번들 배포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8F8F"/>
                </a:solidFill>
                <a:latin typeface="Malgun Gothic"/>
              </a:rPr>
              <a:t>상세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1818"/>
                </a:solidFill>
                <a:latin typeface="Malgun Gothic"/>
              </a:rPr>
              <a:t>8축 비교 매트릭스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비교 축</a:t>
                      </a:r>
                    </a:p>
                  </a:txBody>
                  <a:tcPr>
                    <a:solidFill>
                      <a:srgbClr val="8F8F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에이전트 (Agent)</a:t>
                      </a:r>
                    </a:p>
                  </a:txBody>
                  <a:tcPr>
                    <a:solidFill>
                      <a:srgbClr val="DA29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스킬 (Skill)</a:t>
                      </a:r>
                    </a:p>
                  </a:txBody>
                  <a:tcPr>
                    <a:solidFill>
                      <a:srgbClr val="B9A900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정의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별도 컨텍스트·도구·권한을 가진 전문 일꾼 정의. 위임받아 처리, 요약만 반환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작업 수행법+스크립트·참조파일을 묶은 SKILL.md 폴더. 일반 에이전트를 임시 전문가로 변신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핵심 목적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역할/페르소나 분리 — 독립 컨텍스트에서 한 책무를 수행, 메인 대화 비오염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능력/지식 주입 — 컨텍스트 최소화, 필요할 때만 전문 절차 로드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자율성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높음 — 자체 도구·권한으로 스스로 판단, 일감 전체를 끝까지 수행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낮음 — 호출 주체의 판단 안에서 절차·지식 제공. 스스로 일꾼을 부리지 않음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호출 방식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자동(description 매칭) + 명시(@이름·CLI·드롭다운 선택)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자동(description 매칭) + 명시(/skill명 또는 $skill명)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재사용 단위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한 개 Markdown+YAML 정의 파일 = 하나의 일꾼/페르소나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SKILL.md 1개 + 번들 리소스 폴더 = 하나의 작업 패키지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컨텍스트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별도 컨텍스트 윈도우 소비. 결과는 요약만 메인에 합류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점진적 공개 — 메타데이터만 상시 / 본문은 트리거 시 / 번들은 참조 시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대표 파일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Claude: .claude/agents/*.md
Copilot: .github/agents/*.agent.md
Codex: AGENTS.md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공통: SKILL.md
Claude: .claude/skills/&lt;n&gt;/
Copilot: .github/skills/&lt;n&gt;/
Codex: .agents/skills/&lt;n&gt;/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81818"/>
                          </a:solidFill>
                          <a:latin typeface="Malgun Gothic"/>
                        </a:rPr>
                        <a:t>대표 예시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code-reviewer 서브에이전트 / test-specialist / AGENTS.md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81818"/>
                          </a:solidFill>
                          <a:latin typeface="Malgun Gothic"/>
                        </a:rPr>
                        <a:t>pdf-processing / actions-failure-diag / Codex code-reviewer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8F8F"/>
                </a:solidFill>
                <a:latin typeface="Malgun Gothic"/>
              </a:rPr>
              <a:t>도구별 상세 —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Claude /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120640" cy="4754880"/>
          </a:xfrm>
          <a:prstGeom prst="rect">
            <a:avLst/>
          </a:prstGeom>
          <a:solidFill>
            <a:srgbClr val="1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A291C"/>
                </a:solidFill>
                <a:latin typeface="Arial"/>
              </a:rPr>
              <a:t>AGENT — Subagent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Malgun Gothic"/>
              </a:rPr>
              <a:t>• 공식명: Custom Subagents
• 파일: .claude/agents/*.md (YAML frontmatter + 시스템 프롬프트)
• 위치: 관리설정 &gt; CLI &gt; 프로젝트 .claude/agents/ &gt; 사용자 ~/.claude/agents/
• 재귀 스캔 지원 (하위 폴더 허용)
• description 매칭 자동 위임 + @agent-이름 명시 호출
• 주요 필드: name(필수)·description(필수)·tools·model·skills·permissionMode
• 위임 도구: Agent (구 Task, v2.1.63에서 개명. Task() 별칭 유지)
• /agents 명령으로 관리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45920"/>
            <a:ext cx="5120640" cy="4754880"/>
          </a:xfrm>
          <a:prstGeom prst="rect">
            <a:avLst/>
          </a:prstGeom>
          <a:solidFill>
            <a:srgbClr val="14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6E500"/>
                </a:solidFill>
                <a:latin typeface="Arial"/>
              </a:rPr>
              <a:t>SKILL — Agent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Malgun Gothic"/>
              </a:rPr>
              <a:t>• 공식명: Agent Skills (SKILL.md)
• 오픈 표준(agentskills.io) 본가 — Anthropic 2025-12-18 공개
• 위치: [사용자]/.claude/skills/&lt;n&gt;/SKILL.md · 프로젝트 .claude/skills/&lt;n&gt;/
  우선순위: enterprise &gt; personal &gt; project
• 점진적 공개: L1 메타(~100토큰 상시) → L2 본문(트리거) → L3 번들(참조)
• 주요 필드: description(발견 핵심)·when_to_use·context:fork·model·effort
• 서브에이전트 frontmatter 'skills' 필드로 시작 시 프리로드 가능
• /skill명 또는 자동 description 매칭으로 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8F8F"/>
                </a:solidFill>
                <a:latin typeface="Malgun Gothic"/>
              </a:rPr>
              <a:t>도구별 상세 —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1818"/>
                </a:solidFill>
                <a:latin typeface="Malgun Gothic"/>
              </a:rPr>
              <a:t>GitHub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  ⚠ 주의: Copilot에서 'agent'는 과부하 용어. 재사용 에이전트 정의 = Custom agents(.agent.md)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A291C"/>
                </a:solidFill>
                <a:latin typeface="Arial"/>
              </a:rPr>
              <a:t>AGENT — Custom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Malgun Gothic"/>
              </a:rPr>
              <a:t>• 공식명: Custom agents (.agent.md)
• 파일: .github/agents/&lt;name&gt;.agent.md
  (이전 .chatmode.md → .agent.md 개명·마이그레이션)
• 본문 최대 30,000자
• 위치: 레포 .github/agents/ · org/enterprise · CLI ~/.copilot/agents/
• VS Code는 .github/agents 외에 .claude/agents도 읽음
• 호출: 명시/사용자 선택 중심 (드롭다운·이슈 배정)
• VS Code 전용 키: handoffs·agents·hooks (클라우드 미지원)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E500"/>
                </a:solidFill>
                <a:latin typeface="Malgun Gothic"/>
              </a:rPr>
              <a:t>SKILL — 2가지 구분 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Malgun Gothic"/>
              </a:rPr>
              <a:t>① Agent Skills (SKILL.md)
— Claude/Codex와 같은 오픈 표준 직접 대응물
— 위치: .github/skills/&lt;n&gt;/SKILL.md
— 자동 로드 (description 매칭)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297680"/>
            <a:ext cx="4663440" cy="36576"/>
          </a:xfrm>
          <a:prstGeom prst="rect">
            <a:avLst/>
          </a:prstGeom>
          <a:solidFill>
            <a:srgbClr val="8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Malgun Gothic"/>
              </a:rPr>
              <a:t>② Skillset (Copilot Extensions) — 별개 개념!
— GitHub App에 정의하는 최대 5개 API 엔드포인트 모음
— 설정 UI 필드: Name / Inference description / URL / Parameters
— Copilot이 쿼리를 라우팅해 엔드포인트 호출
— SKILL.md 파일이 아님. 혼동 금지!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8F8F"/>
                </a:solidFill>
                <a:latin typeface="Malgun Gothic"/>
              </a:rPr>
              <a:t>도구별 상세 —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OpenAI Codex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120640" cy="4754880"/>
          </a:xfrm>
          <a:prstGeom prst="rect">
            <a:avLst/>
          </a:prstGeom>
          <a:solidFill>
            <a:srgbClr val="1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A291C"/>
                </a:solidFill>
                <a:latin typeface="Arial"/>
              </a:rPr>
              <a:t>AGENT — AGENTS.md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Malgun Gothic"/>
              </a:rPr>
              <a:t>• 공식명: AGENTS.md
• 순수 Markdown — 스키마·YAML frontmatter·고정 필드명 없음
• 빌드·테스트 명령·코드 스타일·가드레일 등 프로젝트 지침 제공
• Codex가 작업 전 자동으로 읽음 (자동·실행당 1회)
★ AGENTS.md는 '페르소나 매니페스트'가 아님
  Claude·Copilot·Cursor·Jules 등 여러 AI가 공유하는 프로젝트 지침
• 위치: 레포 루트 · 전역 ~/.codex/AGENTS.md
• 디스커버리: git 루트→cwd 탐색, root→leaf 연결
• 관련 config.toml 키: project_doc_max_bytes · project_doc_fallback_filenames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45920"/>
            <a:ext cx="5120640" cy="4754880"/>
          </a:xfrm>
          <a:prstGeom prst="rect">
            <a:avLst/>
          </a:prstGeom>
          <a:solidFill>
            <a:srgbClr val="14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6E500"/>
                </a:solidFill>
                <a:latin typeface="Arial"/>
              </a:rPr>
              <a:t>SKILL — Agent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Malgun Gothic"/>
              </a:rPr>
              <a:t>• 공식명: Agent Skills (SKILL.md, 오픈 에이전트 스킬 표준)
• 선행 'Custom Prompts' → DEPRECATED, Skills로 대체
★ SKILL.md 오픈 표준은 Anthropic이 2025-12-18 공개·오픈소스화
  → Codex가 채택 (OpenAI 원작 아님)
• 위치(현행): .agents/skills/ · ~/.agents/skills · /etc/codex/skills
• 폴더 레이아웃:
  my-skill/SKILL.md (필수)
  scripts/ · references/ · assets/ · agents/openai.yaml (선택)
• 자동 로드 + /skills 선택 · $skill명 명시 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8F8F"/>
                </a:solidFill>
                <a:latin typeface="Malgun Gothic"/>
              </a:rPr>
              <a:t>보완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1818"/>
                </a:solidFill>
                <a:latin typeface="Malgun Gothic"/>
              </a:rPr>
              <a:t>함께 쓰기 — 일꾼과 매뉴얼의 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메인 에이전트
(오케스트레이터)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6352" y="1920240"/>
            <a:ext cx="1920240" cy="1280160"/>
          </a:xfrm>
          <a:prstGeom prst="rect">
            <a:avLst/>
          </a:prstGeom>
          <a:solidFill>
            <a:srgbClr val="1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9202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291C"/>
                </a:solidFill>
                <a:latin typeface="Malgun Gothic"/>
              </a:rPr>
              <a:t>서브에이전트
(전문 일꾼)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75504" y="1920240"/>
            <a:ext cx="1920240" cy="1280160"/>
          </a:xfrm>
          <a:prstGeom prst="rect">
            <a:avLst/>
          </a:prstGeom>
          <a:solidFill>
            <a:srgbClr val="181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9202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6E500"/>
                </a:solidFill>
                <a:latin typeface="Malgun Gothic"/>
              </a:rPr>
              <a:t>SKILL.md 로드
(매뉴얼 펼치기)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4656" y="1920240"/>
            <a:ext cx="1920240" cy="128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6" y="19202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작업 수행 후
요약 반환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93808" y="1920240"/>
            <a:ext cx="1920240" cy="128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8" y="19202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메인 응답
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016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A291C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A291C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A291C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A291C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818"/>
                </a:solidFill>
                <a:latin typeface="Malgun Gothic"/>
              </a:rPr>
              <a:t>에이전트와 스킬은 경쟁이 아닌 보완 관계입니다.
• Claude 서브에이전트는 frontmatter의 'skills' 필드로 시작 시 특정 스킬을 프리로드할 수 있습니다.
• 반대로 Claude 스킬은 'context: fork'로 격리된 서브에이전트 안에서 실행될 수 있습니다.
• 전문 페르소나(에이전트)에 재사용 작업 능력(스킬)을 얹는 방식으로 함께 동작합니다.
일꾼(에이전트)이 자기 작업 책상에서 매뉴얼(스킬)을 꺼내 읽고 일을 처리하는 구조입니다.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8F8F"/>
                </a:solidFill>
                <a:latin typeface="Malgun Gothic"/>
              </a:rPr>
              <a:t>선택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언제 무엇을 쓰나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120640" cy="4389120"/>
          </a:xfrm>
          <a:prstGeom prst="rect">
            <a:avLst/>
          </a:prstGeom>
          <a:solidFill>
            <a:srgbClr val="1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291C"/>
                </a:solidFill>
                <a:latin typeface="Malgun Gothic"/>
              </a:rPr>
              <a:t>에이전트를 쓸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2D2"/>
                </a:solidFill>
                <a:latin typeface="Malgun Gothic"/>
              </a:rPr>
              <a:t>✓ 반복되는 한 가지 '역할'을 독립 실행
  (코드 리뷰어 / 테스트 전문가 / 보안 감사자)
✓ 메인 대화와 분리된 맥락에서
  자체 도구·권한으로 끝까지 맡길 때
✓ 작업이 길거나 메인 컨텍스트를 오염시키면
  안 될 때
✓ 권한/도구를 격리하고 싶을 때
✓ 멀티에이전트 오케스트레이션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828800"/>
            <a:ext cx="5120640" cy="4389120"/>
          </a:xfrm>
          <a:prstGeom prst="rect">
            <a:avLst/>
          </a:prstGeom>
          <a:solidFill>
            <a:srgbClr val="181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6E500"/>
                </a:solidFill>
                <a:latin typeface="Malgun Gothic"/>
              </a:rPr>
              <a:t>스킬을 쓸 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2D2"/>
                </a:solidFill>
                <a:latin typeface="Malgun Gothic"/>
              </a:rPr>
              <a:t>✓ 특정 '작업 절차·도메인 지식'을 재사용
  (PDF 추출 / HWPX 생성 / Actions 디버깅)
✓ 여러 곳에서 재사용하되 평소엔 컨텍스트를
  차지하지 않게 하고 싶을 때
✓ 새 페르소나가 아니라 기존 어시스턴트에
  '이 작업은 이렇게 해라'를 주입할 때
✓ 스크립트·템플릿·참조문서 번들 배포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8F8F"/>
                </a:solidFill>
                <a:latin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1818"/>
                </a:solidFill>
                <a:latin typeface="Malgun Gothic"/>
              </a:rPr>
              <a:t>출처 및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solidFill>
            <a:srgbClr val="B0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  ⚠ 버전 의존 주의: 아래 모든 사실은 공식 문서 기반이지만 버전에 따라 변경될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Claude / Claude Code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https://code.claude.com/docs/en/sub-agents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88336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https://platform.claude.com/docs/en/agents-and-tools/agent-skills/overview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https://code.claude.com/docs/en/skills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https://claude.com/blog/skills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GitHub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0390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https://docs.github.com/en/copilot/concepts/agents/cloud-agent/about-custom-agents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41648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https://github.blog/changelog/2025-10-28-custom-agents-for-github-copilot/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79392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https://code.visualstudio.com/docs/agent-customization/custom-agents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17136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https://github.blog/changelog/2025-12-18-github-copilot-now-supports-agent-skills/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OpenAI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57216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https://agents.md/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https://developers.openai.com/codex/guides/agents-md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3270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https://developers.openai.com/codex/skills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25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오픈 표준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7278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8F8F"/>
                </a:solidFill>
                <a:latin typeface="Arial"/>
              </a:rPr>
              <a:t>agentskills.io — Anthropic 2025-12-18 공개·오픈소스화 (Codex 채택)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